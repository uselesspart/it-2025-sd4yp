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2" r:id="rId3"/>
    <p:sldId id="270" r:id="rId4"/>
    <p:sldId id="271" r:id="rId5"/>
    <p:sldId id="269" r:id="rId6"/>
    <p:sldId id="272" r:id="rId7"/>
    <p:sldId id="273" r:id="rId8"/>
    <p:sldId id="263" r:id="rId9"/>
    <p:sldId id="266" r:id="rId10"/>
    <p:sldId id="267" r:id="rId11"/>
    <p:sldId id="274" r:id="rId12"/>
    <p:sldId id="275" r:id="rId13"/>
    <p:sldId id="276" r:id="rId14"/>
    <p:sldId id="283" r:id="rId15"/>
    <p:sldId id="284" r:id="rId16"/>
    <p:sldId id="285" r:id="rId17"/>
    <p:sldId id="277" r:id="rId18"/>
    <p:sldId id="279" r:id="rId19"/>
    <p:sldId id="280" r:id="rId20"/>
    <p:sldId id="281" r:id="rId21"/>
    <p:sldId id="282" r:id="rId22"/>
    <p:sldId id="260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27F57-D06A-4500-9325-353B6B850D58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ECADBE1-64DE-4E55-80E8-2DFD0574E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297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27F57-D06A-4500-9325-353B6B850D58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ADBE1-64DE-4E55-80E8-2DFD0574E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357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27F57-D06A-4500-9325-353B6B850D58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ECADBE1-64DE-4E55-80E8-2DFD0574E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6378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27F57-D06A-4500-9325-353B6B850D58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ECADBE1-64DE-4E55-80E8-2DFD0574E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866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27F57-D06A-4500-9325-353B6B850D58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ECADBE1-64DE-4E55-80E8-2DFD0574E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074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27F57-D06A-4500-9325-353B6B850D58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ADBE1-64DE-4E55-80E8-2DFD0574E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087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27F57-D06A-4500-9325-353B6B850D58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ADBE1-64DE-4E55-80E8-2DFD0574E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8689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27F57-D06A-4500-9325-353B6B850D58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ADBE1-64DE-4E55-80E8-2DFD0574E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2234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27F57-D06A-4500-9325-353B6B850D58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CADBE1-64DE-4E55-80E8-2DFD0574E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0942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27F57-D06A-4500-9325-353B6B850D58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ECADBE1-64DE-4E55-80E8-2DFD0574E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127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27F57-D06A-4500-9325-353B6B850D58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ECADBE1-64DE-4E55-80E8-2DFD0574ED58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3023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27F57-D06A-4500-9325-353B6B850D58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CADBE1-64DE-4E55-80E8-2DFD0574E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1233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27F57-D06A-4500-9325-353B6B850D58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CADBE1-64DE-4E55-80E8-2DFD0574ED58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9338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27F57-D06A-4500-9325-353B6B850D58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CADBE1-64DE-4E55-80E8-2DFD0574E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5635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27F57-D06A-4500-9325-353B6B850D58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ADBE1-64DE-4E55-80E8-2DFD0574E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8803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27F57-D06A-4500-9325-353B6B850D58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ADBE1-64DE-4E55-80E8-2DFD0574E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1445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27F57-D06A-4500-9325-353B6B850D58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ECADBE1-64DE-4E55-80E8-2DFD0574E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4779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blazor.net/" TargetMode="External"/><Relationship Id="rId2" Type="http://schemas.openxmlformats.org/officeDocument/2006/relationships/hyperlink" Target="https://emscripten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assemblyscript.org/" TargetMode="External"/><Relationship Id="rId4" Type="http://schemas.openxmlformats.org/officeDocument/2006/relationships/hyperlink" Target="https://platform.uno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s3.amazonaws.com/mozilla-games/emscripten/releases/emsdk-portable.tar.gz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eveloper.mozilla.org/en-US/docs/WebAssembly/Using_the_JavaScript_API#Loading_our_wasm_module_and_using_it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asm.continuation-labs.com/d3demo/" TargetMode="External"/><Relationship Id="rId7" Type="http://schemas.openxmlformats.org/officeDocument/2006/relationships/hyperlink" Target="https://habr.com/ru/post/473098/" TargetMode="External"/><Relationship Id="rId2" Type="http://schemas.openxmlformats.org/officeDocument/2006/relationships/hyperlink" Target="https://godotengine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foq.com/presentations/autocad-webassembly/" TargetMode="External"/><Relationship Id="rId5" Type="http://schemas.openxmlformats.org/officeDocument/2006/relationships/hyperlink" Target="https://www.figma.com/blog/webassembly-cut-figmas-load-time-by-3x/" TargetMode="External"/><Relationship Id="rId4" Type="http://schemas.openxmlformats.org/officeDocument/2006/relationships/hyperlink" Target="https://github.com/dreamlayers/em-dosbox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senix.org/system/files/atc19-jangda.pdf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asmerio/wasmer" TargetMode="External"/><Relationship Id="rId2" Type="http://schemas.openxmlformats.org/officeDocument/2006/relationships/hyperlink" Target="https://github.com/bytecodealliance/wasmtime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WebAssembly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642022" y="5179019"/>
            <a:ext cx="2549978" cy="1655762"/>
          </a:xfrm>
        </p:spPr>
        <p:txBody>
          <a:bodyPr>
            <a:normAutofit/>
          </a:bodyPr>
          <a:lstStyle/>
          <a:p>
            <a:pPr algn="l"/>
            <a:r>
              <a:rPr lang="ru-RU" sz="1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выполнили: </a:t>
            </a:r>
          </a:p>
          <a:p>
            <a:pPr algn="l"/>
            <a:r>
              <a:rPr lang="ru-RU" sz="1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Подлесный</a:t>
            </a:r>
            <a:r>
              <a:rPr lang="ru-RU" sz="1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Н.Р., </a:t>
            </a:r>
          </a:p>
          <a:p>
            <a:pPr algn="l"/>
            <a:r>
              <a:rPr lang="ru-RU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Моисеев В.А.</a:t>
            </a:r>
            <a:endParaRPr lang="ru-RU" sz="18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347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WebAssembly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простое определение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89212" y="1698171"/>
            <a:ext cx="8915400" cy="4286529"/>
          </a:xfrm>
        </p:spPr>
        <p:txBody>
          <a:bodyPr/>
          <a:lstStyle/>
          <a:p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WebAssembly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wasm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это 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низкоуровневый бинарный формат кода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предназначенный для выполнения в веб-браузере и других средах.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Его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рассматривать как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современное мощное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дополнение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задач, требующих хорошего уровня оптимизации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542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до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Wasm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конкурентные технологии рынка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9493090"/>
              </p:ext>
            </p:extLst>
          </p:nvPr>
        </p:nvGraphicFramePr>
        <p:xfrm>
          <a:off x="2592925" y="1905000"/>
          <a:ext cx="8272734" cy="4976220"/>
        </p:xfrm>
        <a:graphic>
          <a:graphicData uri="http://schemas.openxmlformats.org/drawingml/2006/table">
            <a:tbl>
              <a:tblPr/>
              <a:tblGrid>
                <a:gridCol w="2757578">
                  <a:extLst>
                    <a:ext uri="{9D8B030D-6E8A-4147-A177-3AD203B41FA5}">
                      <a16:colId xmlns:a16="http://schemas.microsoft.com/office/drawing/2014/main" val="709185768"/>
                    </a:ext>
                  </a:extLst>
                </a:gridCol>
                <a:gridCol w="2757578">
                  <a:extLst>
                    <a:ext uri="{9D8B030D-6E8A-4147-A177-3AD203B41FA5}">
                      <a16:colId xmlns:a16="http://schemas.microsoft.com/office/drawing/2014/main" val="605981073"/>
                    </a:ext>
                  </a:extLst>
                </a:gridCol>
                <a:gridCol w="2757578">
                  <a:extLst>
                    <a:ext uri="{9D8B030D-6E8A-4147-A177-3AD203B41FA5}">
                      <a16:colId xmlns:a16="http://schemas.microsoft.com/office/drawing/2014/main" val="4211711339"/>
                    </a:ext>
                  </a:extLst>
                </a:gridCol>
              </a:tblGrid>
              <a:tr h="335119">
                <a:tc>
                  <a:txBody>
                    <a:bodyPr/>
                    <a:lstStyle/>
                    <a:p>
                      <a:pPr algn="l"/>
                      <a:r>
                        <a:rPr lang="ru-RU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Технология</a:t>
                      </a:r>
                    </a:p>
                  </a:txBody>
                  <a:tcPr marL="27100" marR="45167" marT="28230" marB="282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i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Годы активной конкуренции (расцвет)</a:t>
                      </a:r>
                    </a:p>
                  </a:txBody>
                  <a:tcPr marL="45167" marR="45167" marT="28230" marB="282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Период заката / отказа</a:t>
                      </a:r>
                    </a:p>
                  </a:txBody>
                  <a:tcPr marL="45167" marR="45167" marT="28230" marB="282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9496200"/>
                  </a:ext>
                </a:extLst>
              </a:tr>
              <a:tr h="788663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</a:t>
                      </a:r>
                    </a:p>
                  </a:txBody>
                  <a:tcPr marL="27100" marR="45167" marT="28230" marB="282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1995–</a:t>
                      </a:r>
                      <a:r>
                        <a:rPr lang="ru-RU" sz="1400" b="1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н.в</a:t>
                      </a:r>
                      <a:r>
                        <a:rPr lang="ru-RU" sz="14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 </a:t>
                      </a:r>
                      <a:r>
                        <a:rPr lang="ru-RU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(Появление, стандартизация как </a:t>
                      </a:r>
                      <a:r>
                        <a:rPr lang="ru-RU" sz="1400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ECMAScript</a:t>
                      </a:r>
                      <a:r>
                        <a:rPr lang="ru-RU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эра AJAX, Node.js, современные </a:t>
                      </a:r>
                      <a:r>
                        <a:rPr lang="ru-RU" sz="1400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фреймворки</a:t>
                      </a:r>
                      <a:r>
                        <a:rPr lang="ru-RU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45167" marR="45167" marT="28230" marB="282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i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Технология </a:t>
                      </a:r>
                      <a:r>
                        <a:rPr lang="ru-RU" sz="14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доминирует и эволюционирует, </a:t>
                      </a:r>
                      <a:r>
                        <a:rPr lang="ru-RU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интегрируя новые решения (</a:t>
                      </a:r>
                      <a:r>
                        <a:rPr lang="ru-RU" sz="1400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TypeScript</a:t>
                      </a:r>
                      <a:r>
                        <a:rPr lang="ru-RU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400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WebAssembly</a:t>
                      </a:r>
                      <a:r>
                        <a:rPr lang="ru-RU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</a:t>
                      </a:r>
                    </a:p>
                  </a:txBody>
                  <a:tcPr marL="45167" marR="27100" marT="28230" marB="282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8432208"/>
                  </a:ext>
                </a:extLst>
              </a:tr>
              <a:tr h="1060790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ActiveX</a:t>
                      </a:r>
                    </a:p>
                  </a:txBody>
                  <a:tcPr marL="27100" marR="45167" marT="28230" marB="282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~1996–2005</a:t>
                      </a:r>
                      <a:r>
                        <a:rPr lang="ru-RU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(Доминирование IE на рынке браузеров)</a:t>
                      </a:r>
                    </a:p>
                  </a:txBody>
                  <a:tcPr marL="45167" marR="45167" marT="28230" marB="282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~2006–2015. </a:t>
                      </a:r>
                      <a:r>
                        <a:rPr lang="ru-RU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Активный отказ с ростом осознания проблем безопасности и распространением </a:t>
                      </a:r>
                      <a:r>
                        <a:rPr lang="ru-RU" sz="1400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Firefox</a:t>
                      </a:r>
                      <a:r>
                        <a:rPr lang="ru-RU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400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Chrome</a:t>
                      </a:r>
                      <a:r>
                        <a:rPr lang="ru-RU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Окончательно прекращена поддержка в </a:t>
                      </a:r>
                      <a:r>
                        <a:rPr lang="ru-RU" sz="1400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</a:t>
                      </a:r>
                      <a:r>
                        <a:rPr lang="ru-RU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(2021).</a:t>
                      </a:r>
                    </a:p>
                  </a:txBody>
                  <a:tcPr marL="45167" marR="27100" marT="28230" marB="282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2152657"/>
                  </a:ext>
                </a:extLst>
              </a:tr>
              <a:tr h="1060790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Adobe Flash</a:t>
                      </a:r>
                    </a:p>
                  </a:txBody>
                  <a:tcPr marL="27100" marR="45167" marT="28230" marB="282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~2000–2010 </a:t>
                      </a:r>
                      <a:r>
                        <a:rPr lang="ru-RU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("Золотой век" веб-анимации, игр, видеоплееров)</a:t>
                      </a:r>
                    </a:p>
                  </a:txBody>
                  <a:tcPr marL="45167" marR="45167" marT="28230" marB="282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~2010–2020. </a:t>
                      </a:r>
                      <a:r>
                        <a:rPr lang="ru-RU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Начало конца — отказ </a:t>
                      </a:r>
                      <a:r>
                        <a:rPr lang="ru-RU" sz="1400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</a:t>
                      </a:r>
                      <a:r>
                        <a:rPr lang="ru-RU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от </a:t>
                      </a:r>
                      <a:r>
                        <a:rPr lang="ru-RU" sz="1400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Flash</a:t>
                      </a:r>
                      <a:r>
                        <a:rPr lang="ru-RU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на </a:t>
                      </a:r>
                      <a:r>
                        <a:rPr lang="ru-RU" sz="1400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iPhone</a:t>
                      </a:r>
                      <a:r>
                        <a:rPr lang="ru-RU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(2010). Официальное прекращение поддержки и блокировка контента — 31 декабря 2020 года.</a:t>
                      </a:r>
                    </a:p>
                  </a:txBody>
                  <a:tcPr marL="45167" marR="27100" marT="28230" marB="282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2305726"/>
                  </a:ext>
                </a:extLst>
              </a:tr>
              <a:tr h="970081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 Silverlight</a:t>
                      </a:r>
                    </a:p>
                  </a:txBody>
                  <a:tcPr marL="27100" marR="45167" marT="28230" marB="282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~2007–2013 </a:t>
                      </a:r>
                      <a:r>
                        <a:rPr lang="ru-RU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(Попытка занять нишу </a:t>
                      </a:r>
                      <a:r>
                        <a:rPr lang="ru-RU" sz="1400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Flash</a:t>
                      </a:r>
                      <a:r>
                        <a:rPr lang="ru-RU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для </a:t>
                      </a:r>
                      <a:r>
                        <a:rPr lang="ru-RU" sz="1400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стриминга</a:t>
                      </a:r>
                      <a:r>
                        <a:rPr lang="ru-RU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видео и бизнес-приложений)</a:t>
                      </a:r>
                    </a:p>
                  </a:txBody>
                  <a:tcPr marL="45167" marR="45167" marT="28230" marB="282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~2013–2021. </a:t>
                      </a:r>
                      <a:r>
                        <a:rPr lang="ru-RU" sz="14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Отказ основных браузеров от поддержки плагинов NPAPI (2013-2016). Официальное окончание поддержки — 12 октября 2021 года.</a:t>
                      </a:r>
                    </a:p>
                  </a:txBody>
                  <a:tcPr marL="45167" marR="27100" marT="28230" marB="282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2693775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-63739"/>
            <a:ext cx="65" cy="5846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03136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657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до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Wasm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конкурентные технологии рынка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</a:p>
        </p:txBody>
      </p:sp>
      <p:pic>
        <p:nvPicPr>
          <p:cNvPr id="1026" name="Picture 2" descr="https://habrastorage.org/r/w1560/webt/24/cd/be/24cdbepmn1xputvkq2jbwuz7n64.pn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" t="1786" r="1037" b="8619"/>
          <a:stretch/>
        </p:blipFill>
        <p:spPr bwMode="auto">
          <a:xfrm>
            <a:off x="3448318" y="1990724"/>
            <a:ext cx="7200900" cy="3705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156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стройство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30" name="Picture 6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403" y="2133600"/>
            <a:ext cx="7389018" cy="4086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135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веб-технологий и как их решает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WebAssembly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7479195"/>
              </p:ext>
            </p:extLst>
          </p:nvPr>
        </p:nvGraphicFramePr>
        <p:xfrm>
          <a:off x="2592924" y="1716657"/>
          <a:ext cx="9052736" cy="4895160"/>
        </p:xfrm>
        <a:graphic>
          <a:graphicData uri="http://schemas.openxmlformats.org/drawingml/2006/table">
            <a:tbl>
              <a:tblPr/>
              <a:tblGrid>
                <a:gridCol w="2263184">
                  <a:extLst>
                    <a:ext uri="{9D8B030D-6E8A-4147-A177-3AD203B41FA5}">
                      <a16:colId xmlns:a16="http://schemas.microsoft.com/office/drawing/2014/main" val="709185768"/>
                    </a:ext>
                  </a:extLst>
                </a:gridCol>
                <a:gridCol w="2263184">
                  <a:extLst>
                    <a:ext uri="{9D8B030D-6E8A-4147-A177-3AD203B41FA5}">
                      <a16:colId xmlns:a16="http://schemas.microsoft.com/office/drawing/2014/main" val="540499906"/>
                    </a:ext>
                  </a:extLst>
                </a:gridCol>
                <a:gridCol w="2102346">
                  <a:extLst>
                    <a:ext uri="{9D8B030D-6E8A-4147-A177-3AD203B41FA5}">
                      <a16:colId xmlns:a16="http://schemas.microsoft.com/office/drawing/2014/main" val="605981073"/>
                    </a:ext>
                  </a:extLst>
                </a:gridCol>
                <a:gridCol w="2424022">
                  <a:extLst>
                    <a:ext uri="{9D8B030D-6E8A-4147-A177-3AD203B41FA5}">
                      <a16:colId xmlns:a16="http://schemas.microsoft.com/office/drawing/2014/main" val="4211711339"/>
                    </a:ext>
                  </a:extLst>
                </a:gridCol>
              </a:tblGrid>
              <a:tr h="148831">
                <a:tc>
                  <a:txBody>
                    <a:bodyPr/>
                    <a:lstStyle/>
                    <a:p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100" marR="45167" marT="28230" marB="282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100" marR="45167" marT="28230" marB="282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67" marR="45167" marT="28230" marB="282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67" marR="45167" marT="28230" marB="282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9496200"/>
                  </a:ext>
                </a:extLst>
              </a:tr>
              <a:tr h="349185"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Проблема / Требование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Контекст и "старое" решение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Проблемы старого решения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Как решает </a:t>
                      </a:r>
                      <a:r>
                        <a:rPr lang="en-US" sz="1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WebAssembly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8432208"/>
                  </a:ext>
                </a:extLst>
              </a:tr>
              <a:tr h="1128527"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Низкая производительность вычислений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оптимизирован для веб-сценариев, но медлителен в задачах, близких к "железу" (графика, физика, компиляторы).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JIT-компиляция, динамическая типизация и риск </a:t>
                      </a:r>
                      <a:r>
                        <a:rPr lang="ru-RU" sz="1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деоптимизации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создают "потолок" скорости.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Статическая типизация и бинарный формат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позволяют почти сразу компилироваться в быстрый машинный код.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1252994"/>
                  </a:ext>
                </a:extLst>
              </a:tr>
              <a:tr h="1351195"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Зависимость от плагинов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Для сложных задач (игры, видео) использовались </a:t>
                      </a:r>
                      <a:r>
                        <a:rPr lang="ru-RU" sz="1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Flash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Unity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Silverlight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Небезопасно: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плагины имели доступ к системе. </a:t>
                      </a:r>
                      <a:endParaRPr lang="en-US" sz="1400" b="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ru-RU" sz="1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Нулевая 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конфигурация (X):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требовали установки. </a:t>
                      </a:r>
                      <a:endParaRPr lang="ru-RU" sz="1400" b="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ru-RU" sz="1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</a:t>
                      </a:r>
                      <a:r>
                        <a:rPr lang="ru-RU" sz="1400" b="1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кроссплатформенно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часто работали только на </a:t>
                      </a:r>
                      <a:r>
                        <a:rPr lang="ru-RU" sz="1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модуль .</a:t>
                      </a:r>
                      <a:r>
                        <a:rPr lang="ru-RU" sz="1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wasm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загружается как обычный ресурс. </a:t>
                      </a:r>
                      <a:endParaRPr lang="en-US" sz="1400" b="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ru-RU" sz="1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Безопасно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работает в песочнице браузера. </a:t>
                      </a:r>
                      <a:endParaRPr lang="en-US" sz="1400" b="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ru-RU" sz="1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Кросс-платформенно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работает везде, где есть браузер.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2152657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-63739"/>
            <a:ext cx="65" cy="5846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03136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759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веб-технологий и как их решает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WebAssembly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5999883"/>
              </p:ext>
            </p:extLst>
          </p:nvPr>
        </p:nvGraphicFramePr>
        <p:xfrm>
          <a:off x="2592924" y="1716657"/>
          <a:ext cx="9052736" cy="4681800"/>
        </p:xfrm>
        <a:graphic>
          <a:graphicData uri="http://schemas.openxmlformats.org/drawingml/2006/table">
            <a:tbl>
              <a:tblPr/>
              <a:tblGrid>
                <a:gridCol w="1912401">
                  <a:extLst>
                    <a:ext uri="{9D8B030D-6E8A-4147-A177-3AD203B41FA5}">
                      <a16:colId xmlns:a16="http://schemas.microsoft.com/office/drawing/2014/main" val="709185768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val="540499906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605981073"/>
                    </a:ext>
                  </a:extLst>
                </a:gridCol>
                <a:gridCol w="2396885">
                  <a:extLst>
                    <a:ext uri="{9D8B030D-6E8A-4147-A177-3AD203B41FA5}">
                      <a16:colId xmlns:a16="http://schemas.microsoft.com/office/drawing/2014/main" val="4211711339"/>
                    </a:ext>
                  </a:extLst>
                </a:gridCol>
              </a:tblGrid>
              <a:tr h="148831">
                <a:tc>
                  <a:txBody>
                    <a:bodyPr/>
                    <a:lstStyle/>
                    <a:p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100" marR="45167" marT="28230" marB="282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100" marR="45167" marT="28230" marB="282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67" marR="45167" marT="28230" marB="282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67" marR="45167" marT="28230" marB="282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9496200"/>
                  </a:ext>
                </a:extLst>
              </a:tr>
              <a:tr h="349185"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Проблема / Требование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Контекст и "старое" решение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Проблемы старого решения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Как решает </a:t>
                      </a:r>
                      <a:r>
                        <a:rPr lang="en-US" sz="1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WebAssembly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8432208"/>
                  </a:ext>
                </a:extLst>
              </a:tr>
              <a:tr h="996753"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Ограниченность </a:t>
                      </a: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asm.js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Mozilla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создала asm.js — строгое подмножество JS для компиляции C/C++ кода.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Проблема скорости: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текстовые файлы огромны, их долго </a:t>
                      </a:r>
                      <a:r>
                        <a:rPr lang="ru-RU" sz="1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парсить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компилировать. </a:t>
                      </a:r>
                      <a:endParaRPr lang="en-US" sz="1400" b="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ru-RU" sz="1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Проблема 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удобства: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код — это </a:t>
                      </a:r>
                      <a:r>
                        <a:rPr lang="ru-RU" sz="1400" b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состоит 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 низкоуровневых JS-операций, </a:t>
                      </a:r>
                      <a:r>
                        <a:rPr lang="ru-RU" sz="1400" b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неестественных 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для разработчика.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Бинарный формат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решает обе проблемы: файлы меньше и декодируются быстрее, а разработчик работает с родным языком (C++/</a:t>
                      </a:r>
                      <a:r>
                        <a:rPr lang="ru-RU" sz="1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Rust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1252994"/>
                  </a:ext>
                </a:extLst>
              </a:tr>
              <a:tr h="1351195"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Сложность использования существующего кода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Миллионы строк бизнес-логики на C++, библиотек для обработки медиа (</a:t>
                      </a:r>
                      <a:r>
                        <a:rPr lang="ru-RU" sz="1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FFmpeg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или 3D (</a:t>
                      </a:r>
                      <a:r>
                        <a:rPr lang="ru-RU" sz="1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OpenGL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были "заперты" вне веба.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Перенос на </a:t>
                      </a:r>
                      <a:r>
                        <a:rPr lang="ru-RU" sz="1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означал полное переписывание — титанический труд, ведущий к ошибкам и потере производительности.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Цель компиляции: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Позволяет компилировать существующие кодовые базы на C, C++, </a:t>
                      </a:r>
                      <a:r>
                        <a:rPr lang="ru-RU" sz="1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Rust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др. в </a:t>
                      </a:r>
                      <a:r>
                        <a:rPr lang="ru-RU" sz="1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wasm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без их полного переписывания.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2152657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-63739"/>
            <a:ext cx="65" cy="5846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03136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278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WebAssembly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https://habrastorage.org/r/w1560/webt/h2/f-/be/h2f-beaumjejbndrbscr3e6-n3s.pn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" t="1549" r="661" b="7523"/>
          <a:stretch/>
        </p:blipFill>
        <p:spPr bwMode="auto">
          <a:xfrm>
            <a:off x="3210193" y="1905000"/>
            <a:ext cx="7677150" cy="391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4569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при создании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https://habrastorage.org/r/w1560/webt/hx/qg/xc/hxqgxczg-vl7wds82p5rk9-_lku.pn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" t="1085" r="817" b="15183"/>
          <a:stretch/>
        </p:blipFill>
        <p:spPr bwMode="auto">
          <a:xfrm>
            <a:off x="3228975" y="1952625"/>
            <a:ext cx="7648575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0108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виртуальная машина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89212" y="2117272"/>
            <a:ext cx="8915400" cy="3777622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8194" name="Picture 2" descr="https://habrastorage.org/r/w1560/webt/tn/yx/7j/tnyx7j12olss0rbvec5stpaajwc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" t="1547" r="1147" b="17347"/>
          <a:stretch/>
        </p:blipFill>
        <p:spPr bwMode="auto">
          <a:xfrm>
            <a:off x="3270089" y="2117272"/>
            <a:ext cx="7553645" cy="353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2367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виртуальная машина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20" name="Picture 4" descr="https://habrastorage.org/r/w1560/webt/3f/_x/2e/3f_x2ekh3ggdky_m1ip-8ezhzim.pn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" t="1299" r="949" b="7771"/>
          <a:stretch/>
        </p:blipFill>
        <p:spPr bwMode="auto">
          <a:xfrm>
            <a:off x="3181350" y="1962149"/>
            <a:ext cx="7696200" cy="4000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8898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виртуальная машина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https://habrastorage.org/r/w1560/webt/ux/ch/dj/uxchdjjzisdir4nnsgrwvo9k70a.pn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2" t="1277" r="830" b="7447"/>
          <a:stretch/>
        </p:blipFill>
        <p:spPr bwMode="auto">
          <a:xfrm>
            <a:off x="3133725" y="2047875"/>
            <a:ext cx="7829550" cy="408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8893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языков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C/C++ — 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через 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Emscripten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очень хорошая поддержка.</a:t>
            </a:r>
          </a:p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Rust — 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Wasm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появилась довольно давно, экосистема вокруг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Wasm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строится во многом на основе 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Rust.</a:t>
            </a:r>
          </a:p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— 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через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TeaVM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JWebAssembly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Bytecoder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экспериментальном уровне.</a:t>
            </a:r>
          </a:p>
          <a:p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есть поддержка в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/Native 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через 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LLVM backend — 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экспериментальная.</a:t>
            </a:r>
          </a:p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</a:t>
            </a:r>
          </a:p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 — 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через 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Blazor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(mono) 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в будущем на 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Uno Platform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через 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AssemblyScript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7447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использования на языке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C\C++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быстрой установки последней версии </a:t>
            </a:r>
            <a:r>
              <a:rPr 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LLVM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просто загрузите и установите портативный 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SDK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Emscripten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для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Linux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и OS X (emsdk-portable.tar.gz)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Извлеките архив и откройте терминал в папке</a:t>
            </a:r>
            <a:r>
              <a:rPr lang="ru-RU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Теперь у нас есть всё необходимое для старта. Следует активировать SDK</a:t>
            </a:r>
            <a:r>
              <a:rPr lang="ru-RU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Теперь нужно создать тестовый файл на C — </a:t>
            </a:r>
            <a:r>
              <a:rPr lang="ru-RU" sz="1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counter.c</a:t>
            </a:r>
            <a:endPara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l="1801" t="35352" r="684" b="14973"/>
          <a:stretch/>
        </p:blipFill>
        <p:spPr>
          <a:xfrm>
            <a:off x="2971800" y="2924174"/>
            <a:ext cx="5434401" cy="74295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4"/>
          <a:srcRect l="1640" t="33830" r="7930" b="10539"/>
          <a:stretch/>
        </p:blipFill>
        <p:spPr>
          <a:xfrm>
            <a:off x="3038475" y="3895725"/>
            <a:ext cx="4867275" cy="70485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5"/>
          <a:srcRect l="1480" t="11786" r="13262" b="22255"/>
          <a:stretch/>
        </p:blipFill>
        <p:spPr>
          <a:xfrm>
            <a:off x="3038475" y="5019676"/>
            <a:ext cx="4686300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912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использования на языке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C\C++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Скомпилируйте это в код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WebAssembly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помощью команды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emcc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которая используется для вызова компилятора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Emscripten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из командной строки</a:t>
            </a:r>
            <a:r>
              <a:rPr lang="ru-RU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После компиляции получился файл </a:t>
            </a:r>
            <a:r>
              <a:rPr lang="ru-RU" sz="1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counter.wasm</a:t>
            </a:r>
            <a:endPara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l="2233" t="47870" r="2908" b="14731"/>
          <a:stretch/>
        </p:blipFill>
        <p:spPr>
          <a:xfrm>
            <a:off x="2981325" y="2647951"/>
            <a:ext cx="6696076" cy="46672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325" y="3412811"/>
            <a:ext cx="4262570" cy="172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898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использования на языке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C\C++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Документация по </a:t>
            </a:r>
            <a:r>
              <a:rPr 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JS </a:t>
            </a:r>
            <a:r>
              <a:rPr lang="en-US" sz="1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</a:t>
            </a:r>
            <a:r>
              <a:rPr lang="en-US" sz="1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://</a:t>
            </a:r>
            <a:r>
              <a:rPr lang="en-US" sz="1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developer.mozilla.org/en-US/docs/WebAssembly/Using_the_JavaScript_API#Loading_our_wasm_module_and_using_it</a:t>
            </a:r>
            <a:endParaRPr lang="en-US" sz="14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пробной HTML-странице у вас должно отобразиться число 101 в </a:t>
            </a:r>
            <a:r>
              <a:rPr lang="ru-RU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консоли</a:t>
            </a:r>
            <a:endPara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l="3384" t="11312" r="4311" b="9302"/>
          <a:stretch/>
        </p:blipFill>
        <p:spPr>
          <a:xfrm>
            <a:off x="3000375" y="2733675"/>
            <a:ext cx="663892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862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использования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Игры, игровые движки, движки физики, VR/AR — например, 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Godot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Doom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3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Эмуляторы, виртуальные машины — например, 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DOSBox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Графические/3D редакторы — 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Figma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AutoCAD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Веб-клиенты для финансовых торговых площадок — я видел презентации про два таких клиента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Кодеки и фильтры аудио/видео — например, 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ffmpeg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Базы данных — например,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047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производительности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июле 2019 года вышла научная статья 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«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Not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So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Fast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: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Analyzing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the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Performance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of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WebAssembly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vs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.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Native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Code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»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Авторы реализовали возможность запуска под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WebAssembly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консольных утилит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для запуска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бенчмарков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и использовали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бенчмарки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SPEC для оценки производительности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Wasm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 сравнению с теми же тестами на asm.js и на родном коде.</a:t>
            </a:r>
          </a:p>
          <a:p>
            <a:r>
              <a:rPr lang="ru-RU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такие:</a:t>
            </a:r>
          </a:p>
          <a:p>
            <a:r>
              <a:rPr lang="ru-RU" sz="1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Wasm</a:t>
            </a:r>
            <a:r>
              <a:rPr lang="ru-RU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30% быстрее, чем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(в среднем, на этих тестах)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Wasm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50% медленнее, чем родной код (в среднем, на этих тестах)</a:t>
            </a:r>
          </a:p>
        </p:txBody>
      </p:sp>
    </p:spTree>
    <p:extLst>
      <p:ext uri="{BB962C8B-B14F-4D97-AF65-F5344CB8AC3E}">
        <p14:creationId xmlns:p14="http://schemas.microsoft.com/office/powerpoint/2010/main" val="2197239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Текущие проблемы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Wasm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римерно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вдвое больше операций загрузки/сохранения данных, по сравнению с родным кодом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ольше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ветвлений — вызвано необходимостью дополнительных проверок при обращении к памяти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Больше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«промахов» мимо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кеша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L1.</a:t>
            </a:r>
          </a:p>
        </p:txBody>
      </p:sp>
    </p:spTree>
    <p:extLst>
      <p:ext uri="{BB962C8B-B14F-4D97-AF65-F5344CB8AC3E}">
        <p14:creationId xmlns:p14="http://schemas.microsoft.com/office/powerpoint/2010/main" val="26400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Будущие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фичи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Wasm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Non-trapping</a:t>
            </a: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float-to-int</a:t>
            </a: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conversions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 сейчас конвертация из плавающего значения в целое в некоторых условиях может вызвать исключение; для программиста это довольно неожиданно, поэтому все такие конвертации приходится оборачивать, теряя на этом производительность. Эта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фича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решает проблему.</a:t>
            </a:r>
          </a:p>
          <a:p>
            <a:r>
              <a:rPr lang="ru-RU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Multi-value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 возможность возврата больше одного значения из функции, возможность создания новых инструкций, возвращающих более одного значения — например, результат деления и остаток от деления, или результат сложения и бит переноса.</a:t>
            </a:r>
          </a:p>
          <a:p>
            <a:r>
              <a:rPr lang="ru-RU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 введение типа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anyref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обозначающего «ссылка на что-то в куче JS», первый шаг к тому чтобы ускорить взаимодействие с JS</a:t>
            </a:r>
            <a:r>
              <a:rPr lang="ru-RU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</a:t>
            </a:r>
            <a:r>
              <a:rPr lang="ru-RU" sz="1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фич</a:t>
            </a:r>
            <a:r>
              <a:rPr lang="ru-RU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связанных с </a:t>
            </a:r>
            <a:r>
              <a:rPr lang="en-US" sz="1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wasm</a:t>
            </a:r>
            <a:r>
              <a:rPr lang="ru-RU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chrome</a:t>
            </a:r>
            <a:r>
              <a:rPr lang="ru-RU" sz="1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https://chromestatus.com/features#webassembly</a:t>
            </a:r>
            <a:endParaRPr lang="ru-RU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251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использования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Wasm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вне браузера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 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в основе Node.js лежит движок V8, который поддерживает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Wasm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Отдельное консольное приложение, код приложения исполняется в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Wasm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VM — примеры таких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wasmtime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wasmer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Wasm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VM используется как библиотека из других языков — например, 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wasmer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позволяет вызывать себя из десятка различных языков.</a:t>
            </a:r>
          </a:p>
        </p:txBody>
      </p:sp>
    </p:spTree>
    <p:extLst>
      <p:ext uri="{BB962C8B-B14F-4D97-AF65-F5344CB8AC3E}">
        <p14:creationId xmlns:p14="http://schemas.microsoft.com/office/powerpoint/2010/main" val="3006236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92925" y="2133600"/>
            <a:ext cx="8911687" cy="1280890"/>
          </a:xfrm>
        </p:spPr>
        <p:txBody>
          <a:bodyPr>
            <a:normAutofit/>
          </a:bodyPr>
          <a:lstStyle/>
          <a:p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0898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Легкий дым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769</TotalTime>
  <Words>449</Words>
  <Application>Microsoft Office PowerPoint</Application>
  <PresentationFormat>Широкоэкранный</PresentationFormat>
  <Paragraphs>116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Century Gothic</vt:lpstr>
      <vt:lpstr>Times New Roman</vt:lpstr>
      <vt:lpstr>Wingdings 3</vt:lpstr>
      <vt:lpstr>Легкий дым</vt:lpstr>
      <vt:lpstr>Технология WebAssembly   </vt:lpstr>
      <vt:lpstr>WebAssembly – простое определение</vt:lpstr>
      <vt:lpstr>История до Wasm – конкурентные технологии рынка web</vt:lpstr>
      <vt:lpstr>История до Wasm – конкурентные технологии рынка web</vt:lpstr>
      <vt:lpstr>Устройство JavaScript</vt:lpstr>
      <vt:lpstr>Проблемы веб-технологий и как их решает WebAssembly</vt:lpstr>
      <vt:lpstr>Проблемы веб-технологий и как их решает WebAssembly</vt:lpstr>
      <vt:lpstr>WebAssembly технология</vt:lpstr>
      <vt:lpstr>Цели при создании</vt:lpstr>
      <vt:lpstr> Wasm как виртуальная машина</vt:lpstr>
      <vt:lpstr> Wasm как виртуальная машина</vt:lpstr>
      <vt:lpstr> Wasm как виртуальная машина</vt:lpstr>
      <vt:lpstr>Поддержка языков</vt:lpstr>
      <vt:lpstr>Пример использования на языке C\C++</vt:lpstr>
      <vt:lpstr>Пример использования на языке C\C++</vt:lpstr>
      <vt:lpstr>Пример использования на языке C\C++</vt:lpstr>
      <vt:lpstr>Сценарии использования</vt:lpstr>
      <vt:lpstr>Анализ производительности</vt:lpstr>
      <vt:lpstr>Текущие проблемы Wasm</vt:lpstr>
      <vt:lpstr>Будущие фичи Wasm</vt:lpstr>
      <vt:lpstr>Сценарии использования Wasm вне браузера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работы по дисциплине интеллектуальные системы</dc:title>
  <dc:creator>Nick</dc:creator>
  <cp:lastModifiedBy>Nick</cp:lastModifiedBy>
  <cp:revision>40</cp:revision>
  <dcterms:created xsi:type="dcterms:W3CDTF">2023-11-24T02:36:05Z</dcterms:created>
  <dcterms:modified xsi:type="dcterms:W3CDTF">2025-12-23T09:34:23Z</dcterms:modified>
</cp:coreProperties>
</file>