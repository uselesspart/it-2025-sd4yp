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7" r:id="rId2"/>
    <p:sldId id="261" r:id="rId3"/>
    <p:sldId id="262" r:id="rId4"/>
    <p:sldId id="258" r:id="rId5"/>
    <p:sldId id="263" r:id="rId6"/>
    <p:sldId id="268" r:id="rId7"/>
    <p:sldId id="269" r:id="rId8"/>
    <p:sldId id="267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12/12/2025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lad_/articles/868212/" TargetMode="External"/><Relationship Id="rId2" Type="http://schemas.openxmlformats.org/officeDocument/2006/relationships/hyperlink" Target="https://habr.com/ru/companies/2gis/articles/838966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594311-7CF2-97CE-3FC8-BBBD9C507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GITFLOW</a:t>
            </a:r>
            <a:br>
              <a:rPr lang="en-US" dirty="0"/>
            </a:br>
            <a:r>
              <a:rPr lang="ru-RU" dirty="0"/>
              <a:t>Хуки</a:t>
            </a:r>
            <a:br>
              <a:rPr lang="ru-RU" dirty="0"/>
            </a:br>
            <a:r>
              <a:rPr lang="en-US"/>
              <a:t>Pull request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EA65FF-310A-4056-5E52-04B4CBEA9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Кротиков</a:t>
            </a:r>
            <a:r>
              <a:rPr lang="ru-RU" dirty="0"/>
              <a:t> Сергей Ильич</a:t>
            </a:r>
          </a:p>
          <a:p>
            <a:r>
              <a:rPr lang="ru-RU" dirty="0"/>
              <a:t>5040102/50201</a:t>
            </a:r>
          </a:p>
        </p:txBody>
      </p:sp>
    </p:spTree>
    <p:extLst>
      <p:ext uri="{BB962C8B-B14F-4D97-AF65-F5344CB8AC3E}">
        <p14:creationId xmlns:p14="http://schemas.microsoft.com/office/powerpoint/2010/main" val="34809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B8F024-4AB1-DB92-8648-8EDB23232C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2000" cy="677709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7C069-793A-9DAF-0AD3-427FFA615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846" y="251026"/>
            <a:ext cx="3962400" cy="2194461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работают без </a:t>
            </a:r>
            <a:r>
              <a:rPr lang="en-US" dirty="0" err="1"/>
              <a:t>GitFlow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64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FEC8F-B657-15D7-6AF1-B8FD1F6E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GitFlow</a:t>
            </a:r>
            <a:r>
              <a:rPr lang="en-US" dirty="0"/>
              <a:t> — </a:t>
            </a:r>
            <a:r>
              <a:rPr lang="ru-RU" dirty="0"/>
              <a:t>это правила игры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F496B81-95F3-5BA8-4989-BC3BFF116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498553" y="-1676000"/>
            <a:ext cx="3194894" cy="1073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61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CACC33-E084-42F5-EB34-EC0C4E411E79}"/>
              </a:ext>
            </a:extLst>
          </p:cNvPr>
          <p:cNvSpPr txBox="1"/>
          <p:nvPr/>
        </p:nvSpPr>
        <p:spPr>
          <a:xfrm>
            <a:off x="3668233" y="2090172"/>
            <a:ext cx="358816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Главные ветки: </a:t>
            </a:r>
          </a:p>
          <a:p>
            <a:r>
              <a:rPr lang="ru-RU" sz="2400" dirty="0"/>
              <a:t>-</a:t>
            </a:r>
            <a:r>
              <a:rPr lang="en-US" sz="2400" dirty="0"/>
              <a:t>master(main) </a:t>
            </a:r>
            <a:endParaRPr lang="ru-RU" sz="2400" dirty="0"/>
          </a:p>
          <a:p>
            <a:r>
              <a:rPr lang="ru-RU" sz="2400" dirty="0"/>
              <a:t>-</a:t>
            </a:r>
            <a:r>
              <a:rPr lang="en-US" sz="2400" dirty="0"/>
              <a:t>develop</a:t>
            </a:r>
            <a:br>
              <a:rPr lang="en-US" sz="2400" dirty="0"/>
            </a:br>
            <a:r>
              <a:rPr lang="ru-RU" sz="2400" dirty="0"/>
              <a:t>Дополнительные ветки:</a:t>
            </a:r>
          </a:p>
          <a:p>
            <a:r>
              <a:rPr lang="ru-RU" sz="2400" dirty="0"/>
              <a:t>-</a:t>
            </a:r>
            <a:r>
              <a:rPr lang="en-US" sz="2400" dirty="0"/>
              <a:t>feature/*</a:t>
            </a:r>
            <a:endParaRPr lang="ru-RU" sz="2400" dirty="0"/>
          </a:p>
          <a:p>
            <a:r>
              <a:rPr lang="ru-RU" sz="2400" dirty="0"/>
              <a:t>-</a:t>
            </a:r>
            <a:r>
              <a:rPr lang="en-US" sz="2400" dirty="0"/>
              <a:t>release/*</a:t>
            </a:r>
          </a:p>
          <a:p>
            <a:r>
              <a:rPr lang="en-US" sz="2400" dirty="0"/>
              <a:t>-hotfix/*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19262-0A3B-90AE-1027-15893F8BAC42}"/>
              </a:ext>
            </a:extLst>
          </p:cNvPr>
          <p:cNvSpPr txBox="1"/>
          <p:nvPr/>
        </p:nvSpPr>
        <p:spPr>
          <a:xfrm>
            <a:off x="8050452" y="3259753"/>
            <a:ext cx="32998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Хороший тон:</a:t>
            </a:r>
          </a:p>
          <a:p>
            <a:r>
              <a:rPr lang="ru-RU" sz="2400" dirty="0"/>
              <a:t>-</a:t>
            </a:r>
            <a:r>
              <a:rPr lang="en-US" sz="2400" dirty="0"/>
              <a:t>feature/login-form</a:t>
            </a:r>
            <a:endParaRPr lang="ru-RU" sz="2400" dirty="0"/>
          </a:p>
          <a:p>
            <a:r>
              <a:rPr lang="ru-RU" sz="2400" dirty="0"/>
              <a:t>-</a:t>
            </a:r>
            <a:r>
              <a:rPr lang="en-US" sz="2400" dirty="0"/>
              <a:t>release/1.2.0</a:t>
            </a:r>
            <a:endParaRPr lang="ru-RU" sz="2400" dirty="0"/>
          </a:p>
          <a:p>
            <a:r>
              <a:rPr lang="ru-RU" sz="2400" dirty="0"/>
              <a:t>-</a:t>
            </a:r>
            <a:r>
              <a:rPr lang="en-US" sz="2400" dirty="0"/>
              <a:t>hotfix/payment-error</a:t>
            </a:r>
            <a:br>
              <a:rPr lang="ru-RU" sz="2400" dirty="0"/>
            </a:br>
            <a:endParaRPr lang="ru-RU" sz="24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6147F9-F7A7-2F1E-3861-6FEDFB200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66" y="0"/>
            <a:ext cx="23601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16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68920-2474-C219-9597-740529F69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HOOKS</a:t>
            </a:r>
            <a:r>
              <a:rPr lang="ru-RU" dirty="0"/>
              <a:t> –Локальные Помощники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097AC1-F103-A4AF-2A37-D459DDC1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462" y="2715927"/>
            <a:ext cx="6611126" cy="32378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5BF16E-4F7B-2932-06FC-7AFD88824B1C}"/>
              </a:ext>
            </a:extLst>
          </p:cNvPr>
          <p:cNvSpPr txBox="1"/>
          <p:nvPr/>
        </p:nvSpPr>
        <p:spPr>
          <a:xfrm>
            <a:off x="895462" y="2093338"/>
            <a:ext cx="2374111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your_dir/.git/hooks/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6459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6506B-2C2C-E746-4E6D-20C58137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</a:t>
            </a:r>
            <a:r>
              <a:rPr lang="ru-RU" dirty="0" err="1"/>
              <a:t>РоМАН</a:t>
            </a:r>
            <a:r>
              <a:rPr lang="ru-RU" dirty="0"/>
              <a:t> про ЕВГЕНИЯ</a:t>
            </a:r>
          </a:p>
        </p:txBody>
      </p:sp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0EFEABE-9DF6-699C-1FE7-7884897E6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926" y="2081779"/>
            <a:ext cx="4590717" cy="4439663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88BFE21-EB6F-A518-0548-0776B412A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17" y="2093976"/>
            <a:ext cx="2057400" cy="358140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72A3E79-BA9E-E80F-9C68-2227E75AA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2081779"/>
            <a:ext cx="1981200" cy="47529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EAC4C69-E473-BD65-985C-A48242E1F3BC}"/>
              </a:ext>
            </a:extLst>
          </p:cNvPr>
          <p:cNvSpPr txBox="1"/>
          <p:nvPr/>
        </p:nvSpPr>
        <p:spPr>
          <a:xfrm>
            <a:off x="628317" y="1712447"/>
            <a:ext cx="315477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your_dir/Chapter1/XVII.md</a:t>
            </a:r>
          </a:p>
        </p:txBody>
      </p:sp>
    </p:spTree>
    <p:extLst>
      <p:ext uri="{BB962C8B-B14F-4D97-AF65-F5344CB8AC3E}">
        <p14:creationId xmlns:p14="http://schemas.microsoft.com/office/powerpoint/2010/main" val="3358610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6168A6-E351-3DE3-B6AF-499F84EF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ХУКИ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EB4C05-2C18-C45E-1E15-F19F2A1AD356}"/>
              </a:ext>
            </a:extLst>
          </p:cNvPr>
          <p:cNvSpPr txBox="1"/>
          <p:nvPr/>
        </p:nvSpPr>
        <p:spPr>
          <a:xfrm>
            <a:off x="304799" y="2076123"/>
            <a:ext cx="3744687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pre-commit</a:t>
            </a:r>
            <a:br>
              <a:rPr lang="en-US" dirty="0"/>
            </a:br>
            <a:br>
              <a:rPr lang="en-US" dirty="0"/>
            </a:br>
            <a:r>
              <a:rPr lang="ru-RU" dirty="0"/>
              <a:t>1. Все .</a:t>
            </a:r>
            <a:r>
              <a:rPr lang="ru-RU" dirty="0" err="1"/>
              <a:t>md</a:t>
            </a:r>
            <a:r>
              <a:rPr lang="ru-RU" dirty="0"/>
              <a:t> файлы (кроме </a:t>
            </a:r>
            <a:r>
              <a:rPr lang="en-US" dirty="0"/>
              <a:t>‘Epigrpaph.md‘</a:t>
            </a:r>
            <a:r>
              <a:rPr lang="ru-RU" dirty="0"/>
              <a:t>): 14 строк</a:t>
            </a:r>
            <a:br>
              <a:rPr lang="en-US" dirty="0"/>
            </a:br>
            <a:br>
              <a:rPr lang="en-US" dirty="0"/>
            </a:br>
            <a:r>
              <a:rPr lang="ru-RU" dirty="0"/>
              <a:t>2. Все .</a:t>
            </a:r>
            <a:r>
              <a:rPr lang="ru-RU" dirty="0" err="1"/>
              <a:t>md</a:t>
            </a:r>
            <a:r>
              <a:rPr lang="ru-RU" dirty="0"/>
              <a:t> файлы: каждая строка должна заканчиваться символом </a:t>
            </a:r>
            <a:r>
              <a:rPr lang="en-US" dirty="0"/>
              <a:t> ‘\’</a:t>
            </a:r>
          </a:p>
          <a:p>
            <a:br>
              <a:rPr lang="en-US" dirty="0"/>
            </a:br>
            <a:r>
              <a:rPr lang="ru-RU" dirty="0"/>
              <a:t>3. И файл НЕ должен заканчиваться переводом строки (LF)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7433E0-296D-F8CD-C4B4-BA00BAFD80C9}"/>
              </a:ext>
            </a:extLst>
          </p:cNvPr>
          <p:cNvSpPr txBox="1"/>
          <p:nvPr/>
        </p:nvSpPr>
        <p:spPr>
          <a:xfrm>
            <a:off x="4355810" y="2093976"/>
            <a:ext cx="3480379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commit-msg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commit-msg: merge/revert — </a:t>
            </a:r>
            <a:r>
              <a:rPr lang="ru-RU" dirty="0"/>
              <a:t>проверка пропущена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ru-RU" dirty="0"/>
              <a:t>Указывать </a:t>
            </a:r>
            <a:r>
              <a:rPr lang="en-US" dirty="0"/>
              <a:t>Chapter1-8 </a:t>
            </a:r>
            <a:r>
              <a:rPr lang="ru-RU" dirty="0"/>
              <a:t>обязательно</a:t>
            </a:r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r>
              <a:rPr lang="ru-RU" dirty="0"/>
              <a:t>Можем загрузить либо </a:t>
            </a:r>
            <a:r>
              <a:rPr lang="en-US" dirty="0"/>
              <a:t>Epigraph</a:t>
            </a:r>
            <a:r>
              <a:rPr lang="ru-RU" dirty="0"/>
              <a:t>, либо строфу (</a:t>
            </a:r>
            <a:r>
              <a:rPr lang="en-US" dirty="0"/>
              <a:t>Stanza) </a:t>
            </a:r>
            <a:r>
              <a:rPr lang="ru-RU" dirty="0"/>
              <a:t>с римской цифрой от </a:t>
            </a:r>
            <a:r>
              <a:rPr lang="en-US" dirty="0"/>
              <a:t>I </a:t>
            </a:r>
            <a:r>
              <a:rPr lang="ru-RU" dirty="0"/>
              <a:t>до </a:t>
            </a:r>
            <a:r>
              <a:rPr lang="en-US" dirty="0"/>
              <a:t>C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20B66-968A-644D-479A-8A038FE406B6}"/>
              </a:ext>
            </a:extLst>
          </p:cNvPr>
          <p:cNvSpPr txBox="1"/>
          <p:nvPr/>
        </p:nvSpPr>
        <p:spPr>
          <a:xfrm>
            <a:off x="8142512" y="2076123"/>
            <a:ext cx="3744687" cy="42473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pre-push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ru-RU" dirty="0"/>
              <a:t>сейчас HEAD не на ветке (</a:t>
            </a:r>
            <a:r>
              <a:rPr lang="ru-RU" dirty="0" err="1"/>
              <a:t>detached</a:t>
            </a:r>
            <a:r>
              <a:rPr lang="ru-RU" dirty="0"/>
              <a:t> HEAD) — </a:t>
            </a:r>
            <a:r>
              <a:rPr lang="ru-RU" dirty="0" err="1"/>
              <a:t>push</a:t>
            </a:r>
            <a:r>
              <a:rPr lang="ru-RU" dirty="0"/>
              <a:t> запрещён</a:t>
            </a: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ru-RU" dirty="0"/>
              <a:t>Нельзя пушить напрямую в </a:t>
            </a:r>
            <a:r>
              <a:rPr lang="en-US" dirty="0" err="1"/>
              <a:t>main|master|develop</a:t>
            </a:r>
            <a:endParaRPr lang="en-US" dirty="0"/>
          </a:p>
          <a:p>
            <a:pPr marL="342900" indent="-342900">
              <a:buFontTx/>
              <a:buAutoNum type="arabicPeriod"/>
            </a:pPr>
            <a:endParaRPr lang="ru-RU" dirty="0"/>
          </a:p>
          <a:p>
            <a:pPr marL="342900" indent="-342900">
              <a:buFontTx/>
              <a:buAutoNum type="arabicPeriod"/>
            </a:pPr>
            <a:r>
              <a:rPr lang="en-US" dirty="0" err="1"/>
              <a:t>Разрешено</a:t>
            </a:r>
            <a:r>
              <a:rPr lang="ru-RU" dirty="0"/>
              <a:t> название ветки</a:t>
            </a:r>
            <a:r>
              <a:rPr lang="en-US" dirty="0"/>
              <a:t>: feature/*, hotfix/*, release/*, bugfix/*</a:t>
            </a:r>
          </a:p>
          <a:p>
            <a:pPr marL="342900" indent="-342900">
              <a:buFontTx/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1376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024EAC7-9198-6098-8436-4F41BC4C7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908217"/>
            <a:ext cx="10058400" cy="4050792"/>
          </a:xfrm>
        </p:spPr>
        <p:txBody>
          <a:bodyPr/>
          <a:lstStyle/>
          <a:p>
            <a:r>
              <a:rPr lang="ru-RU" b="1" dirty="0"/>
              <a:t>Как сделать, чтобы без зелёной галочки нельзя было </a:t>
            </a:r>
            <a:r>
              <a:rPr lang="ru-RU" b="1" dirty="0" err="1"/>
              <a:t>мержить</a:t>
            </a:r>
            <a:endParaRPr lang="ru-RU" b="1" dirty="0"/>
          </a:p>
          <a:p>
            <a:r>
              <a:rPr lang="ru-RU" dirty="0"/>
              <a:t>Это </a:t>
            </a:r>
            <a:r>
              <a:rPr lang="ru-RU" b="1" dirty="0"/>
              <a:t>отдельный шаг</a:t>
            </a:r>
            <a:r>
              <a:rPr lang="ru-RU" dirty="0"/>
              <a:t>, не в коде.</a:t>
            </a:r>
          </a:p>
          <a:p>
            <a:r>
              <a:rPr lang="en-US" b="1" dirty="0"/>
              <a:t>GitHub → Settings → Branches → Branch protection rules</a:t>
            </a:r>
          </a:p>
          <a:p>
            <a:r>
              <a:rPr lang="ru-RU" dirty="0"/>
              <a:t>Для </a:t>
            </a:r>
            <a:r>
              <a:rPr lang="en-US" dirty="0"/>
              <a:t>main / develop </a:t>
            </a:r>
            <a:r>
              <a:rPr lang="ru-RU" dirty="0"/>
              <a:t>включить:</a:t>
            </a:r>
          </a:p>
          <a:p>
            <a:r>
              <a:rPr lang="ru-RU" dirty="0"/>
              <a:t>✅ </a:t>
            </a:r>
            <a:r>
              <a:rPr lang="en-US" dirty="0"/>
              <a:t>Require a pull request before merging</a:t>
            </a:r>
          </a:p>
          <a:p>
            <a:r>
              <a:rPr lang="ru-RU" dirty="0"/>
              <a:t>✅ </a:t>
            </a:r>
            <a:r>
              <a:rPr lang="en-US" dirty="0"/>
              <a:t>Require status checks to pass before merging</a:t>
            </a:r>
          </a:p>
          <a:p>
            <a:r>
              <a:rPr lang="ru-RU" dirty="0"/>
              <a:t>выбрать </a:t>
            </a:r>
            <a:r>
              <a:rPr lang="en-US" dirty="0"/>
              <a:t>Commit message check</a:t>
            </a:r>
          </a:p>
          <a:p>
            <a:r>
              <a:rPr lang="ru-RU" dirty="0"/>
              <a:t>👉 Теперь </a:t>
            </a:r>
            <a:r>
              <a:rPr lang="en-US" dirty="0"/>
              <a:t>PR </a:t>
            </a:r>
            <a:r>
              <a:rPr lang="ru-RU" b="1" dirty="0"/>
              <a:t>физически нельзя </a:t>
            </a:r>
            <a:r>
              <a:rPr lang="ru-RU" b="1" dirty="0" err="1"/>
              <a:t>смержить</a:t>
            </a:r>
            <a:r>
              <a:rPr lang="ru-RU" dirty="0"/>
              <a:t>, пока этот </a:t>
            </a:r>
            <a:r>
              <a:rPr lang="en-US" dirty="0"/>
              <a:t>workflow </a:t>
            </a:r>
            <a:r>
              <a:rPr lang="ru-RU" dirty="0"/>
              <a:t>❌.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C36812D-D0ED-46B0-9176-4EA84602E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/>
          <a:lstStyle/>
          <a:p>
            <a:r>
              <a:rPr lang="en-US" dirty="0"/>
              <a:t>PULL REQUEST – </a:t>
            </a:r>
            <a:r>
              <a:rPr lang="ru-RU" dirty="0"/>
              <a:t>Серверные Стражи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4C3C7-3AEF-2A06-BBD5-B3DE277CEE4D}"/>
              </a:ext>
            </a:extLst>
          </p:cNvPr>
          <p:cNvSpPr txBox="1"/>
          <p:nvPr/>
        </p:nvSpPr>
        <p:spPr>
          <a:xfrm>
            <a:off x="1066800" y="2131764"/>
            <a:ext cx="369812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your_dir/.</a:t>
            </a:r>
            <a:r>
              <a:rPr lang="en-US" dirty="0" err="1"/>
              <a:t>github</a:t>
            </a:r>
            <a:r>
              <a:rPr lang="en-US" dirty="0"/>
              <a:t>/workflow/*.</a:t>
            </a:r>
            <a:r>
              <a:rPr lang="en-US" dirty="0" err="1"/>
              <a:t>yml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7369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B2D2A-D63F-703E-A4B2-7186CF7A6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DE0660-949E-E2C6-84F1-473CB4FFD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Hooks</a:t>
            </a:r>
            <a:r>
              <a:rPr lang="ru-RU" dirty="0"/>
              <a:t> не так страшны, как их малюют (</a:t>
            </a:r>
            <a:r>
              <a:rPr lang="en-US" dirty="0">
                <a:hlinkClick r:id="rId2"/>
              </a:rPr>
              <a:t>https://habr.com/ru/companies/2gis/articles/838966/</a:t>
            </a:r>
            <a:r>
              <a:rPr lang="ru-RU" dirty="0"/>
              <a:t>) (13.12.2025)</a:t>
            </a:r>
          </a:p>
          <a:p>
            <a:r>
              <a:rPr lang="ru-RU" dirty="0"/>
              <a:t>Стандарты групповой разработки в </a:t>
            </a:r>
            <a:r>
              <a:rPr lang="ru-RU" dirty="0" err="1"/>
              <a:t>GitFlow</a:t>
            </a:r>
            <a:r>
              <a:rPr lang="ru-RU" dirty="0"/>
              <a:t>-команде. О чем стоит договориться?(</a:t>
            </a:r>
            <a:r>
              <a:rPr lang="en-US" dirty="0">
                <a:hlinkClick r:id="rId3"/>
              </a:rPr>
              <a:t>https://habr.com/ru/companies/lad_/articles/868212/</a:t>
            </a:r>
            <a:r>
              <a:rPr lang="ru-RU" dirty="0"/>
              <a:t>)(13.12.2025)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5684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{86369EE9-9233-4780-AA3D-03F2B62A4770}TF2ec419c9-97c3-4958-b02a-0886397d33afff5e1baa-c5eb14decf20</Template>
  <TotalTime>9872</TotalTime>
  <Words>334</Words>
  <Application>Microsoft Office PowerPoint</Application>
  <PresentationFormat>Широкоэкранный</PresentationFormat>
  <Paragraphs>50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Cambria</vt:lpstr>
      <vt:lpstr>Rockwell</vt:lpstr>
      <vt:lpstr>Rockwell Condensed</vt:lpstr>
      <vt:lpstr>Wingdings</vt:lpstr>
      <vt:lpstr>Дерево</vt:lpstr>
      <vt:lpstr>GITFLOW Хуки Pull request</vt:lpstr>
      <vt:lpstr>Как работают без GitFlow</vt:lpstr>
      <vt:lpstr>GitFlow — это правила игры</vt:lpstr>
      <vt:lpstr>Презентация PowerPoint</vt:lpstr>
      <vt:lpstr>HOOKS –Локальные Помощники</vt:lpstr>
      <vt:lpstr>Пример: РоМАН про ЕВГЕНИЯ</vt:lpstr>
      <vt:lpstr>ХУКИ</vt:lpstr>
      <vt:lpstr>PULL REQUEST – Серверные Стражи</vt:lpstr>
      <vt:lpstr>Ссылки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2025-12-06T08:42:52Z</dcterms:created>
  <dcterms:modified xsi:type="dcterms:W3CDTF">2025-12-13T09:51:46Z</dcterms:modified>
</cp:coreProperties>
</file>